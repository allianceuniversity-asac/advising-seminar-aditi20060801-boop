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850" cy="106965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594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750" y="7016750"/>
            <a:ext cx="5854700" cy="151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750" y="8826500"/>
            <a:ext cx="5854700" cy="825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750" y="3409950"/>
            <a:ext cx="5988050" cy="1968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750" y="5670550"/>
            <a:ext cx="6496050" cy="1054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0600" y="972819"/>
            <a:ext cx="2903220" cy="1676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400">
                <a:solidFill>
                  <a:srgbClr val="000000"/>
                </a:solidFill>
                <a:latin typeface="Helvetica World"/>
              </a:rPr>
              <a:t>Personal Development Plan (PDP)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1212850"/>
            <a:ext cx="736600" cy="927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00">
                <a:solidFill>
                  <a:srgbClr val="000000"/>
                </a:solidFill>
                <a:latin typeface="Helvetica World"/>
              </a:rPr>
              <a:t>Name:</a:t>
            </a:r>
            <a:r>
              <a:rPr spc="-100" sz="1000">
                <a:solidFill>
                  <a:srgbClr val="000000"/>
                </a:solidFill>
                <a:latin typeface="Helvetica World"/>
              </a:rPr>
              <a:t> ADITI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1391920"/>
            <a:ext cx="534543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00">
                <a:solidFill>
                  <a:srgbClr val="000000"/>
                </a:solidFill>
                <a:latin typeface="Helvetica World"/>
              </a:rPr>
              <a:t>Position/Goal:</a:t>
            </a:r>
            <a:r>
              <a:rPr spc="-100" sz="1000">
                <a:solidFill>
                  <a:srgbClr val="000000"/>
                </a:solidFill>
                <a:latin typeface="Helvetica World"/>
              </a:rPr>
              <a:t> Cyber Security Engineer</a:t>
            </a:r>
            <a:r>
              <a:rPr spc="-100" b="1" sz="1000">
                <a:solidFill>
                  <a:srgbClr val="000000"/>
                </a:solidFill>
                <a:latin typeface="Helvetica World"/>
              </a:rPr>
              <a:t> Organization:</a:t>
            </a:r>
            <a:r>
              <a:rPr spc="-100" sz="1000">
                <a:solidFill>
                  <a:srgbClr val="000000"/>
                </a:solidFill>
                <a:latin typeface="Helvetica World"/>
              </a:rPr>
              <a:t> Tata Consultancy Services (TCS) / Tata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600" y="1572260"/>
            <a:ext cx="16294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Group</a:t>
            </a:r>
            <a:r>
              <a:rPr spc="-100" b="1" sz="1000">
                <a:solidFill>
                  <a:srgbClr val="000000"/>
                </a:solidFill>
                <a:latin typeface="Helvetica World"/>
              </a:rPr>
              <a:t> Date:</a:t>
            </a:r>
            <a:r>
              <a:rPr spc="-100" sz="1000">
                <a:solidFill>
                  <a:srgbClr val="000000"/>
                </a:solidFill>
                <a:latin typeface="Helvetica World"/>
              </a:rPr>
              <a:t> November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1762760"/>
            <a:ext cx="2104390" cy="1155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00008B"/>
                </a:solidFill>
                <a:latin typeface="Helvetica World"/>
              </a:rPr>
              <a:t>1. Personal Vision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0600" y="1963420"/>
            <a:ext cx="53505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To become a skilled and trusted Cyber Security Engineer who protects organizations from digital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2137410"/>
            <a:ext cx="533781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threats through innovation, continuous learning, and strong ethical practices—contributing to the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306320"/>
            <a:ext cx="296672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secure digital transformation of Tata Group and India.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2496820"/>
            <a:ext cx="2814320" cy="1447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00008B"/>
                </a:solidFill>
                <a:latin typeface="Helvetica World"/>
              </a:rPr>
              <a:t>2. Current Situation (Self-Assessment)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6820" y="3500120"/>
            <a:ext cx="13741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00">
                <a:solidFill>
                  <a:srgbClr val="F5F5F5"/>
                </a:solidFill>
                <a:latin typeface="Helvetica World"/>
              </a:rPr>
              <a:t>Skills/Knowledge Area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2930" y="3500120"/>
            <a:ext cx="822959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00">
                <a:solidFill>
                  <a:srgbClr val="F5F5F5"/>
                </a:solidFill>
                <a:latin typeface="Helvetica World"/>
              </a:rPr>
              <a:t>Current Level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6210" y="3500120"/>
            <a:ext cx="6604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000">
                <a:solidFill>
                  <a:srgbClr val="F5F5F5"/>
                </a:solidFill>
                <a:latin typeface="Helvetica World"/>
              </a:rPr>
              <a:t>Comments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9830" y="3721100"/>
            <a:ext cx="146685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Networking Fundamentals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3890" y="3721100"/>
            <a:ext cx="701039" cy="93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Intermediate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9280" y="3718560"/>
            <a:ext cx="233299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Understands TCP/IP, DNS, VPN, firewalls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5390" y="3938270"/>
            <a:ext cx="139573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Cyber Security Concepts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140" y="3940810"/>
            <a:ext cx="127127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Beginner–Intermediate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290" y="3940810"/>
            <a:ext cx="242824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Knows about malware, phishing, encryption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0000" y="4157979"/>
            <a:ext cx="12865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Programming/Scripting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83890" y="4159250"/>
            <a:ext cx="701039" cy="93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Intermediate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0580" y="4159250"/>
            <a:ext cx="185166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Familiar with Java, Python basics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6010" y="4376420"/>
            <a:ext cx="163576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Ethical Hacking / Pen Testing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80410" y="4378960"/>
            <a:ext cx="50672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Beginner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4700" y="4378960"/>
            <a:ext cx="196342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Needs hands-on practice with 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3680" y="4596130"/>
            <a:ext cx="82041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Cloud Security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0410" y="4598670"/>
            <a:ext cx="506729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Beginner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8840" y="4596130"/>
            <a:ext cx="175387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Aware of AWS, Azure concepts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900" y="4814570"/>
            <a:ext cx="1616710" cy="96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Communication &amp; Teamwork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47720" y="4814570"/>
            <a:ext cx="373379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Strong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4210" y="4814570"/>
            <a:ext cx="218313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Good presentation &amp; coordination skills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46860" y="5034280"/>
            <a:ext cx="73279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Certifications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82950" y="5036820"/>
            <a:ext cx="50292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None yet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0090" y="5035550"/>
            <a:ext cx="2071369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Plans to pursue security certifications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0600" y="5412740"/>
            <a:ext cx="1713230" cy="1155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00008B"/>
                </a:solidFill>
                <a:latin typeface="Helvetica World"/>
              </a:rPr>
              <a:t>3. SMART Career Goals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800" y="5769610"/>
            <a:ext cx="675639" cy="92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F5F5F5"/>
                </a:solidFill>
                <a:latin typeface="Helvetica World"/>
              </a:rPr>
              <a:t>Time Frame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38070" y="5767070"/>
            <a:ext cx="266700" cy="95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F5F5F5"/>
                </a:solidFill>
                <a:latin typeface="Helvetica World"/>
              </a:rPr>
              <a:t>Goal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0600" y="5852160"/>
            <a:ext cx="662559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F5F5F5"/>
                </a:solidFill>
                <a:latin typeface="Helvetica World"/>
              </a:rPr>
              <a:t>Specific Actions</a:t>
            </a:r>
            <a:r>
              <a:rPr spc="-100" sz="1000">
                <a:solidFill>
                  <a:srgbClr val="000000"/>
                </a:solidFill>
                <a:latin typeface="Helvetica World"/>
              </a:rPr>
              <a:t> Complete courses in Network Security and Ethical Hacking Medium-Term (6–18 mGonatinh sp)ractica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6800" y="5985510"/>
            <a:ext cx="3049270" cy="121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Short-Term (0–6 monthSst)rengthen foundational skills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600" y="6080760"/>
            <a:ext cx="65836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experience &amp; certificWaotiorkn on real-time security projects or internships. Earn cert Long-Term (2–3 years)Establis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600" y="6309360"/>
            <a:ext cx="498094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professional reputation aBt eTcaotmae a core member of Tata’s cyber defense team. Spe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0600" y="6758940"/>
            <a:ext cx="1397000" cy="1447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00008B"/>
                </a:solidFill>
                <a:latin typeface="Helvetica World"/>
              </a:rPr>
              <a:t>4. Skills to Develop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800" y="7113270"/>
            <a:ext cx="529590" cy="96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F5F5F5"/>
                </a:solidFill>
                <a:latin typeface="Helvetica World"/>
              </a:rPr>
              <a:t>Skill Area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92070" y="7115809"/>
            <a:ext cx="635000" cy="92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F5F5F5"/>
                </a:solidFill>
                <a:latin typeface="Helvetica World"/>
              </a:rPr>
              <a:t>Action Plan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33340" y="7115809"/>
            <a:ext cx="604520" cy="939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F5F5F5"/>
                </a:solidFill>
                <a:latin typeface="Helvetica World"/>
              </a:rPr>
              <a:t>Resources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6800" y="7332980"/>
            <a:ext cx="123571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Cyber Threat Analysis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92070" y="7341870"/>
            <a:ext cx="439928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Practice using SIEM tools like Splunk, WireshYaorkuTube, TryHackMe, Udemy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6800" y="7553959"/>
            <a:ext cx="108966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Penetration Testing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592070" y="7570470"/>
            <a:ext cx="219583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Learn Metasploit, Burp Suite, Kali Linux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33340" y="7570470"/>
            <a:ext cx="1803400" cy="1130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Hack The Box, EC-Council Labs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800" y="7773670"/>
            <a:ext cx="1046480" cy="116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Incident Response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592070" y="7799070"/>
            <a:ext cx="4358639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Study real-world case studies and simulation Claybbsrary, Google Cloud Skills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6800" y="7990840"/>
            <a:ext cx="82041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Cloud Security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92070" y="8028940"/>
            <a:ext cx="2010409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Learn AWS/Azure Security Services 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33340" y="8028940"/>
            <a:ext cx="1562100" cy="1117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AWS Skill Builder, Coursera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66800" y="8209280"/>
            <a:ext cx="551180" cy="96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Soft Skills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92070" y="8249920"/>
            <a:ext cx="2070100" cy="1181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Improve communication &amp; leadership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33340" y="8247380"/>
            <a:ext cx="2270760" cy="121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TCS internal trainings, LinkedIn Learning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90600" y="8563610"/>
            <a:ext cx="1520189" cy="114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b="1" sz="1200">
                <a:solidFill>
                  <a:srgbClr val="00008B"/>
                </a:solidFill>
                <a:latin typeface="Helvetica World"/>
              </a:rPr>
              <a:t>5. Timeline Overview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6800" y="8920480"/>
            <a:ext cx="354330" cy="92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F5F5F5"/>
                </a:solidFill>
                <a:latin typeface="Helvetica World"/>
              </a:rPr>
              <a:t>Month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592070" y="8920480"/>
            <a:ext cx="641350" cy="927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F5F5F5"/>
                </a:solidFill>
                <a:latin typeface="Helvetica World"/>
              </a:rPr>
              <a:t>Focus Area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66800" y="9138920"/>
            <a:ext cx="801369" cy="939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Jan–Mar 2026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92070" y="9137650"/>
            <a:ext cx="187198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Networking &amp; Linux fundamentals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66800" y="9358630"/>
            <a:ext cx="779780" cy="116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Apr–Jun 2026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592070" y="9356090"/>
            <a:ext cx="1746250" cy="1206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000">
                <a:solidFill>
                  <a:srgbClr val="000000"/>
                </a:solidFill>
                <a:latin typeface="Helvetica World"/>
              </a:rPr>
              <a:t>Cyber Security basics +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